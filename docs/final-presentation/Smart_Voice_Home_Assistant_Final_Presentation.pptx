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6" r:id="rId27"/>
    <p:sldId id="277" r:id="rId28"/>
    <p:sldId id="278" r:id="rId29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1675"/>
  <p:notesSz cx="6858000" cy="12191675"/>
  <p:embeddedFontLst>
    <p:embeddedFont>
      <p:font typeface="Play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08111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hieunguyentr/Smart-Voice-Home-Assistant/tree/main/docs/flowcharts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594360" y="1234440"/>
            <a:ext cx="71323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Smart Voice</a:t>
            </a:r>
            <a:endParaRPr b="0" i="0" sz="5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Home Assistant</a:t>
            </a:r>
            <a:endParaRPr b="0" i="0" sz="5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640080" y="31546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Raspberry Pi + OpenAI + OLED + GPIO Control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40080" y="3886200"/>
            <a:ext cx="1051560" cy="384048"/>
          </a:xfrm>
          <a:prstGeom prst="roundRect">
            <a:avLst>
              <a:gd fmla="val 19048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749808" y="3968496"/>
            <a:ext cx="822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VOICE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874520" y="3886200"/>
            <a:ext cx="1051560" cy="384048"/>
          </a:xfrm>
          <a:prstGeom prst="roundRect">
            <a:avLst>
              <a:gd fmla="val 19048" name="adj"/>
            </a:avLst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984248" y="3968496"/>
            <a:ext cx="822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OPENAI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108960" y="3886200"/>
            <a:ext cx="1051560" cy="384048"/>
          </a:xfrm>
          <a:prstGeom prst="roundRect">
            <a:avLst>
              <a:gd fmla="val 19048" name="adj"/>
            </a:avLst>
          </a:prstGeom>
          <a:solidFill>
            <a:srgbClr val="FDE047"/>
          </a:solidFill>
          <a:ln cap="flat" cmpd="sng" w="12700">
            <a:solidFill>
              <a:srgbClr val="FDE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218688" y="3968496"/>
            <a:ext cx="822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OLED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343400" y="3886200"/>
            <a:ext cx="1051560" cy="384048"/>
          </a:xfrm>
          <a:prstGeom prst="roundRect">
            <a:avLst>
              <a:gd fmla="val 19048" name="adj"/>
            </a:avLst>
          </a:prstGeom>
          <a:solidFill>
            <a:srgbClr val="F472B6"/>
          </a:solidFill>
          <a:ln cap="flat" cmpd="sng" w="12700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453128" y="3968496"/>
            <a:ext cx="822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GPIO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577840" y="3886200"/>
            <a:ext cx="1051560" cy="384048"/>
          </a:xfrm>
          <a:prstGeom prst="roundRect">
            <a:avLst>
              <a:gd fmla="val 19048" name="adj"/>
            </a:avLst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687568" y="3968496"/>
            <a:ext cx="822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40080" y="50749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Final Project Presentation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40080" y="53949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By: Trung Nguyen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Project Overview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676656" y="182880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Voice-activated home assistant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1078992" y="2176272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 Raspberry Pi device that waits for a wake command, starts an AI conversation, and gives spoken feedback.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76656" y="270662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914400" y="2706624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Embedded hardware focus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078992" y="3054096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The project uses a voice sensor, OLED display, and GPIO-connected outputs.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76656" y="358444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914400" y="35844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Documentation goal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078992" y="393192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The final project is organized like a complete engineering report.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Objectives and Goals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76656" y="182880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Build a working Raspberry Pi voice assistant prototype.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676656" y="235915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914400" y="235915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Use a dedicated recognition sensor for wake and reset commands.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76656" y="288950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914400" y="2889504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Integrate OpenAI transcription, response generation, and TTS.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676656" y="341985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914400" y="3419856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Display live status on OLED.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76656" y="395020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914400" y="395020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Control fan, red light, and green light through GPIO.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76656" y="448056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914400" y="44805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Document design process, issues, results, and future improvements.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B923C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Consumer vs. Custom AI Assistant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594360" y="1828800"/>
            <a:ext cx="5212080" cy="374904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594360" y="1828800"/>
            <a:ext cx="5212080" cy="457200"/>
          </a:xfrm>
          <a:prstGeom prst="roundRect">
            <a:avLst>
              <a:gd fmla="val 16667" name="adj"/>
            </a:avLst>
          </a:prstGeom>
          <a:solidFill>
            <a:srgbClr val="FB923C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822960" y="1947672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Typical Consumer Assistant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822960" y="260604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Closed ecosystem and limited hardware access.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822960" y="3136392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Hard to customize GPIO behavior.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822960" y="3666744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Usually depends on fixed vendor features.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822960" y="419709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Little visibility into internal logic.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355080" y="1828800"/>
            <a:ext cx="5212080" cy="374904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6355080" y="1828800"/>
            <a:ext cx="5212080" cy="457200"/>
          </a:xfrm>
          <a:prstGeom prst="roundRect">
            <a:avLst>
              <a:gd fmla="val 16667" name="adj"/>
            </a:avLst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6583680" y="1947672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This Raspberry Pi Build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583680" y="260604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Open Python code and clear documentation.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583680" y="3136392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Wake command, OLED feedback, and physical GPIO outputs.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583680" y="3666744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OpenAI runtime plus local AI experiments.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583680" y="419709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Expandable for relays, lights, and sensors.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Our Goal: Combine Both Worlds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676656" y="182880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Low cost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1078992" y="2176272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Use Raspberry Pi hardware and common modules.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676656" y="270662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914400" y="2706624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Small footprint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1078992" y="3054096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Prototype can become a compact desktop assistant.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676656" y="358444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914400" y="35844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AI conversation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1078992" y="393192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Use OpenAI for natural spoken responses.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76656" y="446227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914400" y="446227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Physical control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078992" y="4809744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Connect the assistant to fan and light indicators.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76656" y="534009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914400" y="5340096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Visible feedback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1078992" y="568756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OLED shows what the assistant is doing.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Design and Development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676656" y="182880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Wake layer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078992" y="2176272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DFRobot voice recognition sensor detects command IDs.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676656" y="270662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914400" y="2706624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Runtime layer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1078992" y="3054096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Python starts and cancels threaded assistant sessions.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676656" y="358444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914400" y="35844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AI layer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078992" y="393192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OpenAI handles transcription, replies, and TTS audio.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676656" y="446227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914400" y="446227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Output layer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078992" y="4809744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OLED, speaker audio, and GPIO provide user feedback.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FLOW CHARTS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Final Code Flow Chart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822950" y="1676161"/>
            <a:ext cx="105156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CBD5E1"/>
                </a:solidFill>
              </a:rPr>
              <a:t>Flow chart was made in Github: </a:t>
            </a:r>
            <a:r>
              <a:rPr lang="en-US" sz="1500" u="sng">
                <a:solidFill>
                  <a:schemeClr val="hlink"/>
                </a:solidFill>
                <a:hlinkClick r:id="rId3"/>
              </a:rPr>
              <a:t>LINK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1900" y="604623"/>
            <a:ext cx="5905895" cy="516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CODE FLOW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Main Loop Behavior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676656" y="182880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Idle loop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078992" y="2176272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OLED refreshes every 0.25 seconds and the DFRobot sensor is read continuously.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676656" y="270662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914400" y="2706624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Hello robot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1078992" y="3054096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Command ID 2 starts a session only if no session is active.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676656" y="358444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914400" y="35844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Reset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1078992" y="393192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Command ID 82 cancels active audio/OpenAI work and returns OLED to idle.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1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1" name="Box 500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02" name="Circle 5002"/>
          <p:cNvSpPr/>
          <p:nvPr/>
        </p:nvSpPr>
        <p:spPr>
          <a:xfrm>
            <a:off x="9601200" y="-1097280"/>
            <a:ext cx="3108960" cy="3108960"/>
          </a:xfrm>
          <a:prstGeom prst="ellipse">
            <a:avLst/>
          </a:prstGeom>
          <a:solidFill>
            <a:srgbClr val="0F766E">
              <a:alpha val="65000"/>
            </a:srgbClr>
          </a:solidFill>
          <a:ln>
            <a:solidFill>
              <a:srgbClr val="0F766E">
                <a:alpha val="0"/>
              </a:srgbClr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03" name="Circle 5003"/>
          <p:cNvSpPr/>
          <p:nvPr/>
        </p:nvSpPr>
        <p:spPr>
          <a:xfrm>
            <a:off x="-1280160" y="5532120"/>
            <a:ext cx="2926080" cy="2926080"/>
          </a:xfrm>
          <a:prstGeom prst="ellipse">
            <a:avLst/>
          </a:prstGeom>
          <a:solidFill>
            <a:srgbClr val="312E81">
              <a:alpha val="90000"/>
            </a:srgbClr>
          </a:solidFill>
          <a:ln>
            <a:solidFill>
              <a:srgbClr val="312E81">
                <a:alpha val="0"/>
              </a:srgbClr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04" name="Text 5004"/>
          <p:cNvSpPr txBox="1"/>
          <p:nvPr/>
        </p:nvSpPr>
        <p:spPr>
          <a:xfrm>
            <a:off x="566928" y="5669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300" dirty="0">
                <a:b/>
                <a:solidFill>
                  <a:srgbClr val="22D3EE"/>
                </a:solidFill>
                <a:latin typeface="Aptos"/>
                <a:cs typeface="Aptos"/>
              </a:rPr>
              <a:t>CODE</a:t>
            </a:r>
          </a:p>
        </p:txBody>
      </p:sp>
      <p:sp>
        <p:nvSpPr>
          <p:cNvPr id="5005" name="Text 5005"/>
          <p:cNvSpPr txBox="1"/>
          <p:nvPr/>
        </p:nvSpPr>
        <p:spPr>
          <a:xfrm>
            <a:off x="566928" y="950976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3000" dirty="0">
                <a:b/>
                <a:solidFill>
                  <a:srgbClr val="F8FAFC"/>
                </a:solidFill>
                <a:latin typeface="Aptos"/>
                <a:cs typeface="Aptos"/>
              </a:rPr>
              <a:t>Launcher and Hardware Loop</a:t>
            </a:r>
          </a:p>
        </p:txBody>
      </p:sp>
      <p:sp>
        <p:nvSpPr>
          <p:cNvPr id="5006" name="Text 5006"/>
          <p:cNvSpPr txBox="1"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r"/>
            <a:r>
              <a:rPr lang="en-US" sz="1000" dirty="0">
                <a:solidFill>
                  <a:srgbClr val="CBD5E1"/>
                </a:solidFill>
                <a:latin typeface="Aptos"/>
                <a:cs typeface="Aptos"/>
              </a:rPr>
              <a:t>‹#›</a:t>
            </a:r>
          </a:p>
        </p:txBody>
      </p:sp>
      <p:sp>
        <p:nvSpPr>
          <p:cNvPr id="5007" name="Box 5007"/>
          <p:cNvSpPr/>
          <p:nvPr/>
        </p:nvSpPr>
        <p:spPr>
          <a:xfrm>
            <a:off x="640080" y="1783080"/>
            <a:ext cx="4800600" cy="3794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08" name="Text 5008"/>
          <p:cNvSpPr txBox="1"/>
          <p:nvPr/>
        </p:nvSpPr>
        <p:spPr>
          <a:xfrm>
            <a:off x="914400" y="2029968"/>
            <a:ext cx="4251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2000" dirty="0">
                <a:b/>
                <a:solidFill>
                  <a:srgbClr val="22D3EE"/>
                </a:solidFill>
                <a:latin typeface="Aptos"/>
                <a:cs typeface="Aptos"/>
              </a:rPr>
              <a:t>What this file does</a:t>
            </a:r>
          </a:p>
        </p:txBody>
      </p:sp>
      <p:sp>
        <p:nvSpPr>
          <p:cNvPr id="5009" name="Bullets 5009"/>
          <p:cNvSpPr txBox="1"/>
          <p:nvPr/>
        </p:nvSpPr>
        <p:spPr>
          <a:xfrm>
            <a:off x="960120" y="2560320"/>
            <a:ext cx="425196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marL="228600" indent="-171450">
              <a:buChar char="•"/>
            </a:pPr>
            <a:r>
              <a:rPr lang="en-US" sz="1500">
                <a:solidFill>
                  <a:srgbClr val="E5E7EB"/>
                </a:solidFill>
                <a:latin typeface="Aptos"/>
              </a:rPr>
              <a:t>voice_test_openai.py starts first when the Pi boots.</a:t>
            </a:r>
          </a:p>
          <a:p>
            <a:pPr marL="228600" indent="-171450">
              <a:buChar char="•"/>
            </a:pPr>
            <a:r>
              <a:rPr lang="en-US" sz="1500">
                <a:solidFill>
                  <a:srgbClr val="E5E7EB"/>
                </a:solidFill>
                <a:latin typeface="Aptos"/>
              </a:rPr>
              <a:t>It creates the DFRobot voice sensor, runtime brain, and OLED display.</a:t>
            </a:r>
          </a:p>
          <a:p>
            <a:pPr marL="228600" indent="-171450">
              <a:buChar char="•"/>
            </a:pPr>
            <a:r>
              <a:rPr lang="en-US" sz="1500">
                <a:solidFill>
                  <a:srgbClr val="E5E7EB"/>
                </a:solidFill>
                <a:latin typeface="Aptos"/>
              </a:rPr>
              <a:t>It stays in a loop waiting for command IDs from the sensor.</a:t>
            </a:r>
          </a:p>
          <a:p>
            <a:pPr marL="228600" indent="-171450">
              <a:buChar char="•"/>
            </a:pPr>
            <a:r>
              <a:rPr lang="en-US" sz="1500">
                <a:solidFill>
                  <a:srgbClr val="E5E7EB"/>
                </a:solidFill>
                <a:latin typeface="Aptos"/>
              </a:rPr>
              <a:t>It starts or cancels the AI session.</a:t>
            </a:r>
          </a:p>
        </p:txBody>
      </p:sp>
      <p:sp>
        <p:nvSpPr>
          <p:cNvPr id="5010" name="Box 5010"/>
          <p:cNvSpPr/>
          <p:nvPr/>
        </p:nvSpPr>
        <p:spPr>
          <a:xfrm>
            <a:off x="5806440" y="1783080"/>
            <a:ext cx="5394960" cy="3794760"/>
          </a:xfrm>
          <a:prstGeom prst="roundRect">
            <a:avLst/>
          </a:prstGeom>
          <a:solidFill>
            <a:srgbClr val="050A16"/>
          </a:solidFill>
          <a:ln w="12700">
            <a:solidFill>
              <a:srgbClr val="22D3EE"/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11" name="Text 5011"/>
          <p:cNvSpPr txBox="1"/>
          <p:nvPr/>
        </p:nvSpPr>
        <p:spPr>
          <a:xfrm>
            <a:off x="6007608" y="1984248"/>
            <a:ext cx="4992624" cy="33924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500" dirty="0">
                <a:solidFill>
                  <a:srgbClr val="CFFAFE"/>
                </a:solidFill>
                <a:latin typeface="Consolas"/>
                <a:cs typeface="Consolas"/>
              </a:rPr>
              <a:t>voice = DFRobot_DF2301Q_UART()</a:t>
            </a:r>
          </a:p>
          <a:p>
            <a:pPr algn="l"/>
            <a:r>
              <a:rPr lang="en-US" sz="1500" dirty="0">
                <a:solidFill>
                  <a:srgbClr val="CFFAFE"/>
                </a:solidFill>
                <a:latin typeface="Consolas"/>
                <a:cs typeface="Consolas"/>
              </a:rPr>
              <a:t>runtime = PiVoiceRuntimeOpenAI()</a:t>
            </a:r>
          </a:p>
          <a:p>
            <a:pPr algn="l"/>
            <a:r>
              <a:rPr lang="en-US" sz="1500" dirty="0">
                <a:solidFill>
                  <a:srgbClr val="CFFAFE"/>
                </a:solidFill>
                <a:latin typeface="Consolas"/>
                <a:cs typeface="Consolas"/>
              </a:rPr>
              <a:t>oled = OLEDStatusDisplay("Rose Carter", "AI assistant")</a:t>
            </a:r>
          </a:p>
          <a:p>
            <a:pPr algn="l"/>
            <a:r>
              <a:rPr lang="en-US" sz="1500" dirty="0">
                <a:solidFill>
                  <a:srgbClr val="CFFAFE"/>
                </a:solidFill>
                <a:latin typeface="Consolas"/>
                <a:cs typeface="Consolas"/>
              </a:rPr>
              <a:t/>
            </a:r>
          </a:p>
          <a:p>
            <a:pPr algn="l"/>
            <a:r>
              <a:rPr lang="en-US" sz="1500" dirty="0">
                <a:solidFill>
                  <a:srgbClr val="CFFAFE"/>
                </a:solidFill>
                <a:latin typeface="Consolas"/>
                <a:cs typeface="Consolas"/>
              </a:rPr>
              <a:t>cmd_id = voice.get_CMDID()</a:t>
            </a:r>
          </a:p>
        </p:txBody>
      </p:sp>
      <p:sp>
        <p:nvSpPr>
          <p:cNvPr id="5012" name="Text 5012"/>
          <p:cNvSpPr txBox="1"/>
          <p:nvPr/>
        </p:nvSpPr>
        <p:spPr>
          <a:xfrm>
            <a:off x="914400" y="598932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800" dirty="0">
                <a:solidFill>
                  <a:srgbClr val="E5E7EB"/>
                </a:solidFill>
                <a:latin typeface="Aptos"/>
                <a:cs typeface="Aptos"/>
              </a:rPr>
              <a:t>systemd -&gt; voice_test_openai.py -&gt; sensor loop -&gt; runtime session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B923C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MECHANICAL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Mechanical Build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676656" y="182880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Raspberry Pi is the main control board.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676656" y="235915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914400" y="235915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USB microphone captures user speech during active sessions.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676656" y="288950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914400" y="2889504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OLED is placed where the user can see system state.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676656" y="341985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914400" y="3419856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Voice recognition sensor is positioned for wake/reset commands.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676656" y="395020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914400" y="395020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Final enclosure CAD is planned after the prototype layout is locked.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B923C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MECHANICAL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Mechanical Prototype Photo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594360" y="1600200"/>
            <a:ext cx="10972800" cy="434340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/Users/hieun/Downloads/20260511_101900.jpg" id="243" name="Google Shape;2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3178" y="1815087"/>
            <a:ext cx="6912276" cy="388620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4"/>
          <p:cNvSpPr/>
          <p:nvPr/>
        </p:nvSpPr>
        <p:spPr>
          <a:xfrm>
            <a:off x="822960" y="605332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Current prototype layout with Raspberry Pi, OLED display, breadboard wiring, microphone, speakers, fan/relay hardware, and GPIO wiring.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DE047"/>
          </a:solidFill>
          <a:ln cap="flat" cmpd="sng" w="12700">
            <a:solidFill>
              <a:srgbClr val="FDE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5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5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5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04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rPr>
              <a:t>ELECTRICAL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Electrical Design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676656" y="182880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047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UART voice sensor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1078992" y="2176272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Pin 8 / GPIO14 transmits commands. Pin 10 / GPIO15 receives sensor data.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676656" y="270662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047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914400" y="2706624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OLED display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1078992" y="3054096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I2C display at address 0x3C using luma.oled.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676656" y="358444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047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914400" y="35844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GPIO outputs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1078992" y="393192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Fan GPIO16, red indicator GPIO20, green indicator GPIO21.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676656" y="446227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047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914400" y="446227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Safety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1078992" y="4809744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GPIO should control driver or relay circuits for larger loads.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5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6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6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6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EXPERIMENTS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Local AI Experiments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676656" y="182880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Vosk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1078992" y="2176272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Installed and tested for offline speech recognition.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676656" y="270662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914400" y="2706624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Whisper.cpp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1078992" y="3054096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Explored for local speech-to-text on Raspberry Pi.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676656" y="358444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914400" y="35844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Piper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1078992" y="393192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Tested for local text-to-speech voices.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676656" y="446227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914400" y="446227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Local LLM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1078992" y="4809744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Tested locally on the Raspberry Pi.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676656" y="534009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914400" y="5340096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OpenClaw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1078992" y="568756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Tested as an action-agent AI feature.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676656" y="621792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914400" y="6217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Low-RAM lesson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1078992" y="6565392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On Raspberry Pi 3, heavy AI steps must run carefully and not all at once.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6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72B6"/>
          </a:solidFill>
          <a:ln cap="flat" cmpd="sng" w="12700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472B6"/>
                </a:solidFill>
                <a:latin typeface="Arial"/>
                <a:ea typeface="Arial"/>
                <a:cs typeface="Arial"/>
                <a:sym typeface="Arial"/>
              </a:rPr>
              <a:t>PROGRESS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Development Evidence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502920" y="1783080"/>
            <a:ext cx="3429000" cy="37947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hieun\OneDrive\Desktop\home assit AI\Smart-Voice-Home-Assistant\media\screenshots\raspberry-pi-ip.png" id="309" name="Google Shape;3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057400"/>
            <a:ext cx="297180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7"/>
          <p:cNvSpPr/>
          <p:nvPr/>
        </p:nvSpPr>
        <p:spPr>
          <a:xfrm>
            <a:off x="731520" y="507492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Raspberry Pi remote access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4434840" y="1783080"/>
            <a:ext cx="3429000" cy="37947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hieun\OneDrive\Desktop\home assit AI\Smart-Voice-Home-Assistant\media\screenshots\openclaw-setup-success.png" id="312" name="Google Shape;31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2057400"/>
            <a:ext cx="297180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7"/>
          <p:cNvSpPr/>
          <p:nvPr/>
        </p:nvSpPr>
        <p:spPr>
          <a:xfrm>
            <a:off x="4663440" y="507492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OpenClaw setup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8366760" y="1783080"/>
            <a:ext cx="3429000" cy="37947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hieun\OneDrive\Desktop\home assit AI\Smart-Voice-Home-Assistant\media\screenshots\openclaw-create-file.png" id="315" name="Google Shape;31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5360" y="2057400"/>
            <a:ext cx="297180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7"/>
          <p:cNvSpPr/>
          <p:nvPr/>
        </p:nvSpPr>
        <p:spPr>
          <a:xfrm>
            <a:off x="8595360" y="507492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File automation workflow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7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8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8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8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Results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685800" y="1874520"/>
            <a:ext cx="3337560" cy="10515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8"/>
          <p:cNvSpPr/>
          <p:nvPr/>
        </p:nvSpPr>
        <p:spPr>
          <a:xfrm>
            <a:off x="914400" y="210312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Works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914400" y="2478024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Wake command starts session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4480560" y="1874520"/>
            <a:ext cx="3337560" cy="10515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8"/>
          <p:cNvSpPr/>
          <p:nvPr/>
        </p:nvSpPr>
        <p:spPr>
          <a:xfrm>
            <a:off x="4709160" y="210312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Works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4709160" y="2478024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OLED status updates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8275320" y="1874520"/>
            <a:ext cx="3337560" cy="10515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"/>
          <p:cNvSpPr/>
          <p:nvPr/>
        </p:nvSpPr>
        <p:spPr>
          <a:xfrm>
            <a:off x="8503920" y="210312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Works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8503920" y="2478024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OpenAI transcription + response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685800" y="3291840"/>
            <a:ext cx="3337560" cy="10515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8"/>
          <p:cNvSpPr/>
          <p:nvPr/>
        </p:nvSpPr>
        <p:spPr>
          <a:xfrm>
            <a:off x="914400" y="35204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Works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914400" y="3895344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Reset cancels active session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4480560" y="3291840"/>
            <a:ext cx="3337560" cy="10515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"/>
          <p:cNvSpPr/>
          <p:nvPr/>
        </p:nvSpPr>
        <p:spPr>
          <a:xfrm>
            <a:off x="4709160" y="35204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Tested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4709160" y="3895344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Piper text-to-speech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8275320" y="3291840"/>
            <a:ext cx="3337560" cy="10515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8"/>
          <p:cNvSpPr/>
          <p:nvPr/>
        </p:nvSpPr>
        <p:spPr>
          <a:xfrm>
            <a:off x="8503920" y="35204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Tested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8503920" y="3895344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Local LLM on Raspberry Pi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9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9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9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LESSONS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Issues and Lessons Learned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676656" y="182880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Microphone setup required debugging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1078992" y="2176272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USB audio detection worked, but input device selection needed careful testing.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676656" y="270662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914400" y="2706624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Vosk was sensitive to noise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1078992" y="3054096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Offline recognition was fast but picked up background sound.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676656" y="358444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914400" y="35844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Low RAM changed the design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1078992" y="393192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After moving to Raspberry Pi 3, AI tools had to run more carefully and sequentially.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676656" y="446227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914400" y="446227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Test hardware one part at a time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1078992" y="4809744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Sensor, OLED, GPIO, microphone, and AI runtime each needed isolated tests.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9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DE047"/>
          </a:solidFill>
          <a:ln cap="flat" cmpd="sng" w="12700">
            <a:solidFill>
              <a:srgbClr val="FDE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0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0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04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rPr>
              <a:t>BOM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Bill of Materials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731520" y="17373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047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4754880" y="17373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047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640080" y="2148840"/>
            <a:ext cx="10789920" cy="502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0"/>
          <p:cNvSpPr/>
          <p:nvPr/>
        </p:nvSpPr>
        <p:spPr>
          <a:xfrm>
            <a:off x="868680" y="2295144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Raspberry Pi 3 / 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4800600" y="2295144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Main embedded computer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640080" y="2807208"/>
            <a:ext cx="10789920" cy="502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0"/>
          <p:cNvSpPr/>
          <p:nvPr/>
        </p:nvSpPr>
        <p:spPr>
          <a:xfrm>
            <a:off x="868680" y="295351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DFRobot DF2301Q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4800600" y="2953512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Wake and reset command sensor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640080" y="3465576"/>
            <a:ext cx="10789920" cy="502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0"/>
          <p:cNvSpPr/>
          <p:nvPr/>
        </p:nvSpPr>
        <p:spPr>
          <a:xfrm>
            <a:off x="868680" y="36118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USB lavalier microphone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4800600" y="361188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Speech input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640080" y="4123944"/>
            <a:ext cx="10789920" cy="502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0"/>
          <p:cNvSpPr/>
          <p:nvPr/>
        </p:nvSpPr>
        <p:spPr>
          <a:xfrm>
            <a:off x="868680" y="427024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OLED display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4800600" y="4270248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Status and transcript feedback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0"/>
          <p:cNvSpPr/>
          <p:nvPr/>
        </p:nvSpPr>
        <p:spPr>
          <a:xfrm>
            <a:off x="640080" y="4782312"/>
            <a:ext cx="10789920" cy="502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0"/>
          <p:cNvSpPr/>
          <p:nvPr/>
        </p:nvSpPr>
        <p:spPr>
          <a:xfrm>
            <a:off x="868680" y="492861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Fan / LEDs / relay wiring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4800600" y="4928616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Physical device control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640080" y="5440680"/>
            <a:ext cx="10789920" cy="502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0"/>
          <p:cNvSpPr/>
          <p:nvPr/>
        </p:nvSpPr>
        <p:spPr>
          <a:xfrm>
            <a:off x="868680" y="5586984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microSD + HDMI + VNC/SSH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4800600" y="5586984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Setup and remote development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0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72B6"/>
          </a:solidFill>
          <a:ln cap="flat" cmpd="sng" w="12700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1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1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1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472B6"/>
                </a:solidFill>
                <a:latin typeface="Arial"/>
                <a:ea typeface="Arial"/>
                <a:cs typeface="Arial"/>
                <a:sym typeface="Arial"/>
              </a:rPr>
              <a:t>DOCUMENTATION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Project Report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676656" y="182880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472B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Home page with project overview and architecture.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676656" y="235915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472B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914400" y="235915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Flow charts, BOM, mechanical build, electrical, results, code, progress reports, and CAD sections.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676656" y="288950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472B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914400" y="2889504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Clean public code folder with requirements and service template.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1"/>
          <p:cNvSpPr/>
          <p:nvPr/>
        </p:nvSpPr>
        <p:spPr>
          <a:xfrm>
            <a:off x="676656" y="341985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472B6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914400" y="3419856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Private OpenAI API keys and Wi-Fi credentials are excluded.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1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B923C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2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2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Future Improvements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676656" y="182880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2"/>
          <p:cNvSpPr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Record and publish final demo video.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676656" y="235915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914400" y="235915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Finalize enclosure CAD and physical mounting.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676656" y="288950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914400" y="2889504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Add exact BOM prices and purchase links.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676656" y="341985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914400" y="3419856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Improve microphone noise handling.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676656" y="395020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914400" y="395020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Add more device-control commands and safety checks.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2"/>
          <p:cNvSpPr/>
          <p:nvPr/>
        </p:nvSpPr>
        <p:spPr>
          <a:xfrm>
            <a:off x="676656" y="448056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914400" y="44805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Package the project for easier installation on a new Raspberry Pi.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2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3"/>
          <p:cNvSpPr/>
          <p:nvPr/>
        </p:nvSpPr>
        <p:spPr>
          <a:xfrm>
            <a:off x="9235440" y="-123444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F766E">
              <a:alpha val="94901"/>
            </a:srgbClr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3"/>
          <p:cNvSpPr/>
          <p:nvPr/>
        </p:nvSpPr>
        <p:spPr>
          <a:xfrm>
            <a:off x="-1371600" y="566928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12E81"/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3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4572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Conclusion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676656" y="182880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3"/>
          <p:cNvSpPr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The project successfully demonstrates a Raspberry Pi voice assistant prototype.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3"/>
          <p:cNvSpPr/>
          <p:nvPr/>
        </p:nvSpPr>
        <p:spPr>
          <a:xfrm>
            <a:off x="676656" y="235915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3"/>
          <p:cNvSpPr/>
          <p:nvPr/>
        </p:nvSpPr>
        <p:spPr>
          <a:xfrm>
            <a:off x="914400" y="235915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The assistant connects wake detection, OpenAI responses, OLED feedback, and GPIO device control.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3"/>
          <p:cNvSpPr/>
          <p:nvPr/>
        </p:nvSpPr>
        <p:spPr>
          <a:xfrm>
            <a:off x="676656" y="288950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3"/>
          <p:cNvSpPr/>
          <p:nvPr/>
        </p:nvSpPr>
        <p:spPr>
          <a:xfrm>
            <a:off x="914400" y="2889504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The simplified flow chart now matches the final code.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676656" y="341985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3"/>
          <p:cNvSpPr/>
          <p:nvPr/>
        </p:nvSpPr>
        <p:spPr>
          <a:xfrm>
            <a:off x="914400" y="3419856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Next steps are demo video, exact BOM, enclosure CAD, and install polish.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3"/>
          <p:cNvSpPr txBox="1"/>
          <p:nvPr>
            <p:ph idx="4294967295" type="sldNum"/>
          </p:nvPr>
        </p:nvSpPr>
        <p:spPr>
          <a:xfrm>
            <a:off x="103784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3" name="Box 50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14" name="Circle 5014"/>
          <p:cNvSpPr/>
          <p:nvPr/>
        </p:nvSpPr>
        <p:spPr>
          <a:xfrm>
            <a:off x="9601200" y="-1097280"/>
            <a:ext cx="3108960" cy="3108960"/>
          </a:xfrm>
          <a:prstGeom prst="ellipse">
            <a:avLst/>
          </a:prstGeom>
          <a:solidFill>
            <a:srgbClr val="0F766E">
              <a:alpha val="65000"/>
            </a:srgbClr>
          </a:solidFill>
          <a:ln>
            <a:solidFill>
              <a:srgbClr val="0F766E">
                <a:alpha val="0"/>
              </a:srgbClr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15" name="Circle 5015"/>
          <p:cNvSpPr/>
          <p:nvPr/>
        </p:nvSpPr>
        <p:spPr>
          <a:xfrm>
            <a:off x="-1280160" y="5532120"/>
            <a:ext cx="2926080" cy="2926080"/>
          </a:xfrm>
          <a:prstGeom prst="ellipse">
            <a:avLst/>
          </a:prstGeom>
          <a:solidFill>
            <a:srgbClr val="312E81">
              <a:alpha val="90000"/>
            </a:srgbClr>
          </a:solidFill>
          <a:ln>
            <a:solidFill>
              <a:srgbClr val="312E81">
                <a:alpha val="0"/>
              </a:srgbClr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16" name="Text 5016"/>
          <p:cNvSpPr txBox="1"/>
          <p:nvPr/>
        </p:nvSpPr>
        <p:spPr>
          <a:xfrm>
            <a:off x="566928" y="5669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300" dirty="0">
                <a:b/>
                <a:solidFill>
                  <a:srgbClr val="22D3EE"/>
                </a:solidFill>
                <a:latin typeface="Aptos"/>
                <a:cs typeface="Aptos"/>
              </a:rPr>
              <a:t>COMMANDS</a:t>
            </a:r>
          </a:p>
        </p:txBody>
      </p:sp>
      <p:sp>
        <p:nvSpPr>
          <p:cNvPr id="5017" name="Text 5017"/>
          <p:cNvSpPr txBox="1"/>
          <p:nvPr/>
        </p:nvSpPr>
        <p:spPr>
          <a:xfrm>
            <a:off x="566928" y="950976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3000" dirty="0">
                <a:b/>
                <a:solidFill>
                  <a:srgbClr val="F8FAFC"/>
                </a:solidFill>
                <a:latin typeface="Aptos"/>
                <a:cs typeface="Aptos"/>
              </a:rPr>
              <a:t>Wake and Reset Commands</a:t>
            </a:r>
          </a:p>
        </p:txBody>
      </p:sp>
      <p:sp>
        <p:nvSpPr>
          <p:cNvPr id="5018" name="Text 5018"/>
          <p:cNvSpPr txBox="1"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r"/>
            <a:r>
              <a:rPr lang="en-US" sz="1000" dirty="0">
                <a:solidFill>
                  <a:srgbClr val="CBD5E1"/>
                </a:solidFill>
                <a:latin typeface="Aptos"/>
                <a:cs typeface="Aptos"/>
              </a:rPr>
              <a:t>‹#›</a:t>
            </a:r>
          </a:p>
        </p:txBody>
      </p:sp>
      <p:sp>
        <p:nvSpPr>
          <p:cNvPr id="5019" name="Box 5019"/>
          <p:cNvSpPr/>
          <p:nvPr/>
        </p:nvSpPr>
        <p:spPr>
          <a:xfrm>
            <a:off x="685800" y="1828800"/>
            <a:ext cx="3383280" cy="3429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20" name="Text 5020"/>
          <p:cNvSpPr txBox="1"/>
          <p:nvPr/>
        </p:nvSpPr>
        <p:spPr>
          <a:xfrm>
            <a:off x="960120" y="208483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2200" dirty="0">
                <a:b/>
                <a:solidFill>
                  <a:srgbClr val="22C55E"/>
                </a:solidFill>
                <a:latin typeface="Aptos"/>
                <a:cs typeface="Aptos"/>
              </a:rPr>
              <a:t>hello robot</a:t>
            </a:r>
          </a:p>
        </p:txBody>
      </p:sp>
      <p:sp>
        <p:nvSpPr>
          <p:cNvPr id="5021" name="Text 5021"/>
          <p:cNvSpPr txBox="1"/>
          <p:nvPr/>
        </p:nvSpPr>
        <p:spPr>
          <a:xfrm>
            <a:off x="960120" y="25420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600" dirty="0">
                <a:solidFill>
                  <a:srgbClr val="E5E7EB"/>
                </a:solidFill>
                <a:latin typeface="Aptos"/>
                <a:cs typeface="Aptos"/>
              </a:rPr>
              <a:t>Command ID 2 starts listening. If a session is already active, it cancels and starts fresh.</a:t>
            </a:r>
          </a:p>
        </p:txBody>
      </p:sp>
      <p:sp>
        <p:nvSpPr>
          <p:cNvPr id="5022" name="Box 5022"/>
          <p:cNvSpPr/>
          <p:nvPr/>
        </p:nvSpPr>
        <p:spPr>
          <a:xfrm>
            <a:off x="4389120" y="1828800"/>
            <a:ext cx="3383280" cy="3429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23" name="Text 5023"/>
          <p:cNvSpPr txBox="1"/>
          <p:nvPr/>
        </p:nvSpPr>
        <p:spPr>
          <a:xfrm>
            <a:off x="4663440" y="208483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2200" dirty="0">
                <a:b/>
                <a:solidFill>
                  <a:srgbClr val="EF4444"/>
                </a:solidFill>
                <a:latin typeface="Aptos"/>
                <a:cs typeface="Aptos"/>
              </a:rPr>
              <a:t>reset</a:t>
            </a:r>
          </a:p>
        </p:txBody>
      </p:sp>
      <p:sp>
        <p:nvSpPr>
          <p:cNvPr id="5024" name="Text 5024"/>
          <p:cNvSpPr txBox="1"/>
          <p:nvPr/>
        </p:nvSpPr>
        <p:spPr>
          <a:xfrm>
            <a:off x="4663440" y="25420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600" dirty="0">
                <a:solidFill>
                  <a:srgbClr val="E5E7EB"/>
                </a:solidFill>
                <a:latin typeface="Aptos"/>
                <a:cs typeface="Aptos"/>
              </a:rPr>
              <a:t>Command ID 82 cancels the current session and returns the OLED to idle.</a:t>
            </a:r>
          </a:p>
        </p:txBody>
      </p:sp>
      <p:sp>
        <p:nvSpPr>
          <p:cNvPr id="5025" name="Box 5025"/>
          <p:cNvSpPr/>
          <p:nvPr/>
        </p:nvSpPr>
        <p:spPr>
          <a:xfrm>
            <a:off x="8092440" y="1828800"/>
            <a:ext cx="3337560" cy="3429000"/>
          </a:xfrm>
          <a:prstGeom prst="roundRect">
            <a:avLst/>
          </a:prstGeom>
          <a:solidFill>
            <a:srgbClr val="050A16"/>
          </a:solidFill>
          <a:ln w="12700">
            <a:solidFill>
              <a:srgbClr val="8B5CF6"/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26" name="Text 5026"/>
          <p:cNvSpPr txBox="1"/>
          <p:nvPr/>
        </p:nvSpPr>
        <p:spPr>
          <a:xfrm>
            <a:off x="8293608" y="2029968"/>
            <a:ext cx="2935224" cy="30266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250" dirty="0">
                <a:solidFill>
                  <a:srgbClr val="CFFAFE"/>
                </a:solidFill>
                <a:latin typeface="Consolas"/>
                <a:cs typeface="Consolas"/>
              </a:rPr>
              <a:t>HELLO_ROBOT_CMDID = 2</a:t>
            </a:r>
          </a:p>
          <a:p>
            <a:pPr algn="l"/>
            <a:r>
              <a:rPr lang="en-US" sz="1250" dirty="0">
                <a:solidFill>
                  <a:srgbClr val="CFFAFE"/>
                </a:solidFill>
                <a:latin typeface="Consolas"/>
                <a:cs typeface="Consolas"/>
              </a:rPr>
              <a:t>RESET_CMDID = 82</a:t>
            </a:r>
          </a:p>
          <a:p>
            <a:pPr algn="l"/>
            <a:r>
              <a:rPr lang="en-US" sz="1250" dirty="0">
                <a:solidFill>
                  <a:srgbClr val="CFFAFE"/>
                </a:solidFill>
                <a:latin typeface="Consolas"/>
                <a:cs typeface="Consolas"/>
              </a:rPr>
              <a:t/>
            </a:r>
          </a:p>
          <a:p>
            <a:pPr algn="l"/>
            <a:r>
              <a:rPr lang="en-US" sz="1250" dirty="0">
                <a:solidFill>
                  <a:srgbClr val="CFFAFE"/>
                </a:solidFill>
                <a:latin typeface="Consolas"/>
                <a:cs typeface="Consolas"/>
              </a:rPr>
              <a:t>if cmd_id == HELLO_ROBOT_CMDID:</a:t>
            </a:r>
          </a:p>
          <a:p>
            <a:pPr algn="l"/>
            <a:r>
              <a:rPr lang="en-US" sz="1250" dirty="0">
                <a:solidFill>
                  <a:srgbClr val="CFFAFE"/>
                </a:solidFill>
                <a:latin typeface="Consolas"/>
                <a:cs typeface="Consolas"/>
              </a:rPr>
              <a:t>    runtime.start_session()</a:t>
            </a:r>
          </a:p>
          <a:p>
            <a:pPr algn="l"/>
            <a:r>
              <a:rPr lang="en-US" sz="1250" dirty="0">
                <a:solidFill>
                  <a:srgbClr val="CFFAFE"/>
                </a:solidFill>
                <a:latin typeface="Consolas"/>
                <a:cs typeface="Consolas"/>
              </a:rPr>
              <a:t>elif cmd_id == RESET_CMDID:</a:t>
            </a:r>
          </a:p>
          <a:p>
            <a:pPr algn="l"/>
            <a:r>
              <a:rPr lang="en-US" sz="1250" dirty="0">
                <a:solidFill>
                  <a:srgbClr val="CFFAFE"/>
                </a:solidFill>
                <a:latin typeface="Consolas"/>
                <a:cs typeface="Consolas"/>
              </a:rPr>
              <a:t>    runtime.cancel_session()</a:t>
            </a:r>
          </a:p>
        </p:txBody>
      </p:sp>
      <p:sp>
        <p:nvSpPr>
          <p:cNvPr id="5027" name="Text 5027"/>
          <p:cNvSpPr txBox="1"/>
          <p:nvPr/>
        </p:nvSpPr>
        <p:spPr>
          <a:xfrm>
            <a:off x="822960" y="5925312"/>
            <a:ext cx="10332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800" dirty="0">
                <a:solidFill>
                  <a:srgbClr val="F8FAFC"/>
                </a:solidFill>
                <a:latin typeface="Aptos"/>
                <a:cs typeface="Aptos"/>
              </a:rPr>
              <a:t>This makes the wake command stronger: the user can interrupt and give a new command right away.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8" name="Box 502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29" name="Circle 5029"/>
          <p:cNvSpPr/>
          <p:nvPr/>
        </p:nvSpPr>
        <p:spPr>
          <a:xfrm>
            <a:off x="9601200" y="-1097280"/>
            <a:ext cx="3108960" cy="3108960"/>
          </a:xfrm>
          <a:prstGeom prst="ellipse">
            <a:avLst/>
          </a:prstGeom>
          <a:solidFill>
            <a:srgbClr val="0F766E">
              <a:alpha val="65000"/>
            </a:srgbClr>
          </a:solidFill>
          <a:ln>
            <a:solidFill>
              <a:srgbClr val="0F766E">
                <a:alpha val="0"/>
              </a:srgbClr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30" name="Circle 5030"/>
          <p:cNvSpPr/>
          <p:nvPr/>
        </p:nvSpPr>
        <p:spPr>
          <a:xfrm>
            <a:off x="-1280160" y="5532120"/>
            <a:ext cx="2926080" cy="2926080"/>
          </a:xfrm>
          <a:prstGeom prst="ellipse">
            <a:avLst/>
          </a:prstGeom>
          <a:solidFill>
            <a:srgbClr val="312E81">
              <a:alpha val="90000"/>
            </a:srgbClr>
          </a:solidFill>
          <a:ln>
            <a:solidFill>
              <a:srgbClr val="312E81">
                <a:alpha val="0"/>
              </a:srgbClr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31" name="Text 5031"/>
          <p:cNvSpPr txBox="1"/>
          <p:nvPr/>
        </p:nvSpPr>
        <p:spPr>
          <a:xfrm>
            <a:off x="566928" y="5669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300" dirty="0">
                <a:b/>
                <a:solidFill>
                  <a:srgbClr val="22D3EE"/>
                </a:solidFill>
                <a:latin typeface="Aptos"/>
                <a:cs typeface="Aptos"/>
              </a:rPr>
              <a:t>AI + GPIO</a:t>
            </a:r>
          </a:p>
        </p:txBody>
      </p:sp>
      <p:sp>
        <p:nvSpPr>
          <p:cNvPr id="5032" name="Text 5032"/>
          <p:cNvSpPr txBox="1"/>
          <p:nvPr/>
        </p:nvSpPr>
        <p:spPr>
          <a:xfrm>
            <a:off x="566928" y="950976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3000" dirty="0">
                <a:b/>
                <a:solidFill>
                  <a:srgbClr val="F8FAFC"/>
                </a:solidFill>
                <a:latin typeface="Aptos"/>
                <a:cs typeface="Aptos"/>
              </a:rPr>
              <a:t>OpenAI Runtime and Device Control</a:t>
            </a:r>
          </a:p>
        </p:txBody>
      </p:sp>
      <p:sp>
        <p:nvSpPr>
          <p:cNvPr id="5033" name="Text 5033"/>
          <p:cNvSpPr txBox="1"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r"/>
            <a:r>
              <a:rPr lang="en-US" sz="1000" dirty="0">
                <a:solidFill>
                  <a:srgbClr val="CBD5E1"/>
                </a:solidFill>
                <a:latin typeface="Aptos"/>
                <a:cs typeface="Aptos"/>
              </a:rPr>
              <a:t>‹#›</a:t>
            </a:r>
          </a:p>
        </p:txBody>
      </p:sp>
      <p:sp>
        <p:nvSpPr>
          <p:cNvPr id="5034" name="Box 5034"/>
          <p:cNvSpPr/>
          <p:nvPr/>
        </p:nvSpPr>
        <p:spPr>
          <a:xfrm>
            <a:off x="685800" y="1700784"/>
            <a:ext cx="4983480" cy="4434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35" name="Text 5035"/>
          <p:cNvSpPr txBox="1"/>
          <p:nvPr/>
        </p:nvSpPr>
        <p:spPr>
          <a:xfrm>
            <a:off x="960120" y="1956816"/>
            <a:ext cx="4434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2000" dirty="0">
                <a:b/>
                <a:solidFill>
                  <a:srgbClr val="22D3EE"/>
                </a:solidFill>
                <a:latin typeface="Aptos"/>
                <a:cs typeface="Aptos"/>
              </a:rPr>
              <a:t>How the GPIO decision works</a:t>
            </a:r>
          </a:p>
        </p:txBody>
      </p:sp>
      <p:sp>
        <p:nvSpPr>
          <p:cNvPr id="5036" name="Bullets 5036"/>
          <p:cNvSpPr txBox="1"/>
          <p:nvPr/>
        </p:nvSpPr>
        <p:spPr>
          <a:xfrm>
            <a:off x="960120" y="2450592"/>
            <a:ext cx="4434840" cy="23317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marL="228600" indent="-171450">
              <a:buChar char="•"/>
            </a:pPr>
            <a:r>
              <a:rPr lang="en-US" sz="1450">
                <a:solidFill>
                  <a:srgbClr val="E5E7EB"/>
                </a:solidFill>
                <a:latin typeface="Aptos"/>
              </a:rPr>
              <a:t>pi_voice_runtime_openai.py records the user voice.</a:t>
            </a:r>
          </a:p>
          <a:p>
            <a:pPr marL="228600" indent="-171450">
              <a:buChar char="•"/>
            </a:pPr>
            <a:r>
              <a:rPr lang="en-US" sz="1450">
                <a:solidFill>
                  <a:srgbClr val="E5E7EB"/>
                </a:solidFill>
                <a:latin typeface="Aptos"/>
              </a:rPr>
              <a:t>OpenAI transcribes the audio into text.</a:t>
            </a:r>
          </a:p>
          <a:p>
            <a:pPr marL="228600" indent="-171450">
              <a:buChar char="•"/>
            </a:pPr>
            <a:r>
              <a:rPr lang="en-US" sz="1450">
                <a:solidFill>
                  <a:srgbClr val="E5E7EB"/>
                </a:solidFill>
                <a:latin typeface="Aptos"/>
              </a:rPr>
              <a:t>For device commands, OpenAI returns a temporary JSON action plan.</a:t>
            </a:r>
          </a:p>
          <a:p>
            <a:pPr marL="228600" indent="-171450">
              <a:buChar char="•"/>
            </a:pPr>
            <a:r>
              <a:rPr lang="en-US" sz="1450">
                <a:solidFill>
                  <a:srgbClr val="E5E7EB"/>
                </a:solidFill>
                <a:latin typeface="Aptos"/>
              </a:rPr>
              <a:t>Python maps the JSON target to GPIO and executes the action.</a:t>
            </a:r>
          </a:p>
        </p:txBody>
      </p:sp>
      <p:sp>
        <p:nvSpPr>
          <p:cNvPr id="5037" name="Text 5037"/>
          <p:cNvSpPr txBox="1"/>
          <p:nvPr/>
        </p:nvSpPr>
        <p:spPr>
          <a:xfrm>
            <a:off x="960120" y="5248656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550" dirty="0">
                <a:solidFill>
                  <a:srgbClr val="FDE68A"/>
                </a:solidFill>
                <a:latin typeface="Aptos"/>
                <a:cs typeface="Aptos"/>
              </a:rPr>
              <a:t>OpenAI does not directly touch the pins. Python executes the hardware action.</a:t>
            </a:r>
          </a:p>
        </p:txBody>
      </p:sp>
      <p:sp>
        <p:nvSpPr>
          <p:cNvPr id="5038" name="Box 5038"/>
          <p:cNvSpPr/>
          <p:nvPr/>
        </p:nvSpPr>
        <p:spPr>
          <a:xfrm>
            <a:off x="5989320" y="1700784"/>
            <a:ext cx="5349240" cy="2057400"/>
          </a:xfrm>
          <a:prstGeom prst="roundRect">
            <a:avLst/>
          </a:prstGeom>
          <a:solidFill>
            <a:srgbClr val="050A16"/>
          </a:solidFill>
          <a:ln w="12700">
            <a:solidFill>
              <a:srgbClr val="22C55E"/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39" name="Text 5039"/>
          <p:cNvSpPr txBox="1"/>
          <p:nvPr/>
        </p:nvSpPr>
        <p:spPr>
          <a:xfrm>
            <a:off x="6190488" y="1901952"/>
            <a:ext cx="4946904" cy="1655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300" dirty="0">
                <a:solidFill>
                  <a:srgbClr val="CFFAFE"/>
                </a:solidFill>
                <a:latin typeface="Consolas"/>
                <a:cs typeface="Consolas"/>
              </a:rPr>
              <a:t>{</a:t>
            </a:r>
          </a:p>
          <a:p>
            <a:pPr algn="l"/>
            <a:r>
              <a:rPr lang="en-US" sz="1300" dirty="0">
                <a:solidFill>
                  <a:srgbClr val="CFFAFE"/>
                </a:solidFill>
                <a:latin typeface="Consolas"/>
                <a:cs typeface="Consolas"/>
              </a:rPr>
              <a:t>  "intent": "device_control",</a:t>
            </a:r>
          </a:p>
          <a:p>
            <a:pPr algn="l"/>
            <a:r>
              <a:rPr lang="en-US" sz="1300" dirty="0">
                <a:solidFill>
                  <a:srgbClr val="CFFAFE"/>
                </a:solidFill>
                <a:latin typeface="Consolas"/>
                <a:cs typeface="Consolas"/>
              </a:rPr>
              <a:t>  "reply": "Turning on the fan.",</a:t>
            </a:r>
          </a:p>
          <a:p>
            <a:pPr algn="l"/>
            <a:r>
              <a:rPr lang="en-US" sz="1300" dirty="0">
                <a:solidFill>
                  <a:srgbClr val="CFFAFE"/>
                </a:solidFill>
                <a:latin typeface="Consolas"/>
                <a:cs typeface="Consolas"/>
              </a:rPr>
              <a:t>  "targets": ["fan"],</a:t>
            </a:r>
          </a:p>
          <a:p>
            <a:pPr algn="l"/>
            <a:r>
              <a:rPr lang="en-US" sz="1300" dirty="0">
                <a:solidFill>
                  <a:srgbClr val="CFFAFE"/>
                </a:solidFill>
                <a:latin typeface="Consolas"/>
                <a:cs typeface="Consolas"/>
              </a:rPr>
              <a:t>  "action": "on"</a:t>
            </a:r>
          </a:p>
          <a:p>
            <a:pPr algn="l"/>
            <a:r>
              <a:rPr lang="en-US" sz="1300" dirty="0">
                <a:solidFill>
                  <a:srgbClr val="CFFAFE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5040" name="Box 5040"/>
          <p:cNvSpPr/>
          <p:nvPr/>
        </p:nvSpPr>
        <p:spPr>
          <a:xfrm>
            <a:off x="5989320" y="4069080"/>
            <a:ext cx="5349240" cy="1417320"/>
          </a:xfrm>
          <a:prstGeom prst="roundRect">
            <a:avLst/>
          </a:prstGeom>
          <a:solidFill>
            <a:srgbClr val="050A16"/>
          </a:solidFill>
          <a:ln w="12700">
            <a:solidFill>
              <a:srgbClr val="FB923C"/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41" name="Text 5041"/>
          <p:cNvSpPr txBox="1"/>
          <p:nvPr/>
        </p:nvSpPr>
        <p:spPr>
          <a:xfrm>
            <a:off x="6190488" y="4270248"/>
            <a:ext cx="4946904" cy="10149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600" dirty="0">
                <a:solidFill>
                  <a:srgbClr val="CFFAFE"/>
                </a:solidFill>
                <a:latin typeface="Consolas"/>
                <a:cs typeface="Consolas"/>
              </a:rPr>
              <a:t>fan -&gt; GPIO 16</a:t>
            </a:r>
          </a:p>
          <a:p>
            <a:pPr algn="l"/>
            <a:r>
              <a:rPr lang="en-US" sz="1600" dirty="0">
                <a:solidFill>
                  <a:srgbClr val="CFFAFE"/>
                </a:solidFill>
                <a:latin typeface="Consolas"/>
                <a:cs typeface="Consolas"/>
              </a:rPr>
              <a:t>red_light -&gt; GPIO 20</a:t>
            </a:r>
          </a:p>
          <a:p>
            <a:pPr algn="l"/>
            <a:r>
              <a:rPr lang="en-US" sz="1600" dirty="0">
                <a:solidFill>
                  <a:srgbClr val="CFFAFE"/>
                </a:solidFill>
                <a:latin typeface="Consolas"/>
                <a:cs typeface="Consolas"/>
              </a:rPr>
              <a:t>green_light -&gt; GPIO 21</a:t>
            </a:r>
          </a:p>
        </p:txBody>
      </p:sp>
      <p:sp>
        <p:nvSpPr>
          <p:cNvPr id="5042" name="Text 5042"/>
          <p:cNvSpPr txBox="1"/>
          <p:nvPr/>
        </p:nvSpPr>
        <p:spPr>
          <a:xfrm>
            <a:off x="6400800" y="589788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700" dirty="0">
                <a:solidFill>
                  <a:srgbClr val="E5E7EB"/>
                </a:solidFill>
                <a:latin typeface="Aptos"/>
                <a:cs typeface="Aptos"/>
              </a:rPr>
              <a:t>User says “turn on the fan” -&gt; GPIO 16 turns 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3" name="Box 504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44" name="Circle 5044"/>
          <p:cNvSpPr/>
          <p:nvPr/>
        </p:nvSpPr>
        <p:spPr>
          <a:xfrm>
            <a:off x="9601200" y="-1097280"/>
            <a:ext cx="3108960" cy="3108960"/>
          </a:xfrm>
          <a:prstGeom prst="ellipse">
            <a:avLst/>
          </a:prstGeom>
          <a:solidFill>
            <a:srgbClr val="0F766E">
              <a:alpha val="65000"/>
            </a:srgbClr>
          </a:solidFill>
          <a:ln>
            <a:solidFill>
              <a:srgbClr val="0F766E">
                <a:alpha val="0"/>
              </a:srgbClr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45" name="Circle 5045"/>
          <p:cNvSpPr/>
          <p:nvPr/>
        </p:nvSpPr>
        <p:spPr>
          <a:xfrm>
            <a:off x="-1280160" y="5532120"/>
            <a:ext cx="2926080" cy="2926080"/>
          </a:xfrm>
          <a:prstGeom prst="ellipse">
            <a:avLst/>
          </a:prstGeom>
          <a:solidFill>
            <a:srgbClr val="312E81">
              <a:alpha val="90000"/>
            </a:srgbClr>
          </a:solidFill>
          <a:ln>
            <a:solidFill>
              <a:srgbClr val="312E81">
                <a:alpha val="0"/>
              </a:srgbClr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46" name="Text 5046"/>
          <p:cNvSpPr txBox="1"/>
          <p:nvPr/>
        </p:nvSpPr>
        <p:spPr>
          <a:xfrm>
            <a:off x="566928" y="5669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300" dirty="0">
                <a:b/>
                <a:solidFill>
                  <a:srgbClr val="22D3EE"/>
                </a:solidFill>
                <a:latin typeface="Aptos"/>
                <a:cs typeface="Aptos"/>
              </a:rPr>
              <a:t>AGENTS</a:t>
            </a:r>
          </a:p>
        </p:txBody>
      </p:sp>
      <p:sp>
        <p:nvSpPr>
          <p:cNvPr id="5047" name="Text 5047"/>
          <p:cNvSpPr txBox="1"/>
          <p:nvPr/>
        </p:nvSpPr>
        <p:spPr>
          <a:xfrm>
            <a:off x="566928" y="950976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3000" dirty="0">
                <a:b/>
                <a:solidFill>
                  <a:srgbClr val="F8FAFC"/>
                </a:solidFill>
                <a:latin typeface="Aptos"/>
                <a:cs typeface="Aptos"/>
              </a:rPr>
              <a:t>PicoClaw Agent Workspaces</a:t>
            </a:r>
          </a:p>
        </p:txBody>
      </p:sp>
      <p:sp>
        <p:nvSpPr>
          <p:cNvPr id="5048" name="Text 5048"/>
          <p:cNvSpPr txBox="1"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r"/>
            <a:r>
              <a:rPr lang="en-US" sz="1000" dirty="0">
                <a:solidFill>
                  <a:srgbClr val="CBD5E1"/>
                </a:solidFill>
                <a:latin typeface="Aptos"/>
                <a:cs typeface="Aptos"/>
              </a:rPr>
              <a:t>‹#›</a:t>
            </a:r>
          </a:p>
        </p:txBody>
      </p:sp>
      <p:sp>
        <p:nvSpPr>
          <p:cNvPr id="5049" name="Box 5049"/>
          <p:cNvSpPr/>
          <p:nvPr/>
        </p:nvSpPr>
        <p:spPr>
          <a:xfrm>
            <a:off x="640080" y="1691640"/>
            <a:ext cx="5166360" cy="4434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50" name="Text 5050"/>
          <p:cNvSpPr txBox="1"/>
          <p:nvPr/>
        </p:nvSpPr>
        <p:spPr>
          <a:xfrm>
            <a:off x="914400" y="1938528"/>
            <a:ext cx="4617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2000" dirty="0">
                <a:b/>
                <a:solidFill>
                  <a:srgbClr val="22D3EE"/>
                </a:solidFill>
                <a:latin typeface="Aptos"/>
                <a:cs typeface="Aptos"/>
              </a:rPr>
              <a:t>What PicoClaw does</a:t>
            </a:r>
          </a:p>
        </p:txBody>
      </p:sp>
      <p:sp>
        <p:nvSpPr>
          <p:cNvPr id="5051" name="Bullets 5051"/>
          <p:cNvSpPr txBox="1"/>
          <p:nvPr/>
        </p:nvSpPr>
        <p:spPr>
          <a:xfrm>
            <a:off x="932688" y="2395728"/>
            <a:ext cx="45720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marL="228600" indent="-171450">
              <a:buChar char="•"/>
            </a:pPr>
            <a:r>
              <a:rPr lang="en-US" sz="1420">
                <a:solidFill>
                  <a:srgbClr val="E5E7EB"/>
                </a:solidFill>
                <a:latin typeface="Aptos"/>
              </a:rPr>
              <a:t>PicoClaw is a separate command-line agent runner.</a:t>
            </a:r>
          </a:p>
          <a:p>
            <a:pPr marL="228600" indent="-171450">
              <a:buChar char="•"/>
            </a:pPr>
            <a:r>
              <a:rPr lang="en-US" sz="1420">
                <a:solidFill>
                  <a:srgbClr val="E5E7EB"/>
                </a:solidFill>
                <a:latin typeface="Aptos"/>
              </a:rPr>
              <a:t>Python still controls microphone, OpenAI transcription, OLED, GPIO, and speaker output.</a:t>
            </a:r>
          </a:p>
          <a:p>
            <a:pPr marL="228600" indent="-171450">
              <a:buChar char="•"/>
            </a:pPr>
            <a:r>
              <a:rPr lang="en-US" sz="1420">
                <a:solidFill>
                  <a:srgbClr val="E5E7EB"/>
                </a:solidFill>
                <a:latin typeface="Aptos"/>
              </a:rPr>
              <a:t>PicoClaw only generates the text reply for David Miller.</a:t>
            </a:r>
          </a:p>
        </p:txBody>
      </p:sp>
      <p:sp>
        <p:nvSpPr>
          <p:cNvPr id="5052" name="Box 5052"/>
          <p:cNvSpPr/>
          <p:nvPr/>
        </p:nvSpPr>
        <p:spPr>
          <a:xfrm>
            <a:off x="914400" y="4343400"/>
            <a:ext cx="4617720" cy="1234440"/>
          </a:xfrm>
          <a:prstGeom prst="roundRect">
            <a:avLst/>
          </a:prstGeom>
          <a:solidFill>
            <a:srgbClr val="050A16"/>
          </a:solidFill>
          <a:ln w="12700">
            <a:solidFill>
              <a:srgbClr val="8B5CF6"/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53" name="Text 5053"/>
          <p:cNvSpPr txBox="1"/>
          <p:nvPr/>
        </p:nvSpPr>
        <p:spPr>
          <a:xfrm>
            <a:off x="1115568" y="4544568"/>
            <a:ext cx="4215384" cy="8321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220" dirty="0">
                <a:solidFill>
                  <a:srgbClr val="CFFAFE"/>
                </a:solidFill>
                <a:latin typeface="Consolas"/>
                <a:cs typeface="Consolas"/>
              </a:rPr>
              <a:t>PICOCLAW = Path(".../picoclaw")</a:t>
            </a:r>
          </a:p>
          <a:p>
            <a:pPr algn="l"/>
            <a:r>
              <a:rPr lang="en-US" sz="1220" dirty="0">
                <a:solidFill>
                  <a:srgbClr val="CFFAFE"/>
                </a:solidFill>
                <a:latin typeface="Consolas"/>
                <a:cs typeface="Consolas"/>
              </a:rPr>
              <a:t>PICOCLAW_BASE = Path(".../picoclaw_agents")</a:t>
            </a:r>
          </a:p>
        </p:txBody>
      </p:sp>
      <p:sp>
        <p:nvSpPr>
          <p:cNvPr id="5054" name="Box 5054"/>
          <p:cNvSpPr/>
          <p:nvPr/>
        </p:nvSpPr>
        <p:spPr>
          <a:xfrm>
            <a:off x="6080760" y="1691640"/>
            <a:ext cx="5166360" cy="4434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55" name="Text 5055"/>
          <p:cNvSpPr txBox="1"/>
          <p:nvPr/>
        </p:nvSpPr>
        <p:spPr>
          <a:xfrm>
            <a:off x="6355080" y="1938528"/>
            <a:ext cx="4617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2000" dirty="0">
                <a:b/>
                <a:solidFill>
                  <a:srgbClr val="22C55E"/>
                </a:solidFill>
                <a:latin typeface="Aptos"/>
                <a:cs typeface="Aptos"/>
              </a:rPr>
              <a:t>Agent folders</a:t>
            </a:r>
          </a:p>
        </p:txBody>
      </p:sp>
      <p:sp>
        <p:nvSpPr>
          <p:cNvPr id="5056" name="Box 5056"/>
          <p:cNvSpPr/>
          <p:nvPr/>
        </p:nvSpPr>
        <p:spPr>
          <a:xfrm>
            <a:off x="6355080" y="2395728"/>
            <a:ext cx="4617720" cy="1508760"/>
          </a:xfrm>
          <a:prstGeom prst="roundRect">
            <a:avLst/>
          </a:prstGeom>
          <a:solidFill>
            <a:srgbClr val="050A16"/>
          </a:solidFill>
          <a:ln w="12700">
            <a:solidFill>
              <a:srgbClr val="22C55E"/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57" name="Text 5057"/>
          <p:cNvSpPr txBox="1"/>
          <p:nvPr/>
        </p:nvSpPr>
        <p:spPr>
          <a:xfrm>
            <a:off x="6556248" y="2596896"/>
            <a:ext cx="4215384" cy="11064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120" dirty="0">
                <a:solidFill>
                  <a:srgbClr val="CFFAFE"/>
                </a:solidFill>
                <a:latin typeface="Consolas"/>
                <a:cs typeface="Consolas"/>
              </a:rPr>
              <a:t>picoclaw_agents/</a:t>
            </a:r>
          </a:p>
          <a:p>
            <a:pPr algn="l"/>
            <a:r>
              <a:rPr lang="en-US" sz="1120" dirty="0">
                <a:solidFill>
                  <a:srgbClr val="CFFAFE"/>
                </a:solidFill>
                <a:latin typeface="Consolas"/>
                <a:cs typeface="Consolas"/>
              </a:rPr>
              <a:t>  story_home/.picoclaw/workspace/AGENT.md</a:t>
            </a:r>
          </a:p>
          <a:p>
            <a:pPr algn="l"/>
            <a:r>
              <a:rPr lang="en-US" sz="1120" dirty="0">
                <a:solidFill>
                  <a:srgbClr val="CFFAFE"/>
                </a:solidFill>
                <a:latin typeface="Consolas"/>
                <a:cs typeface="Consolas"/>
              </a:rPr>
              <a:t>  device_home/.picoclaw/workspace/AGENT.md</a:t>
            </a:r>
          </a:p>
          <a:p>
            <a:pPr algn="l"/>
            <a:r>
              <a:rPr lang="en-US" sz="1120" dirty="0">
                <a:solidFill>
                  <a:srgbClr val="CFFAFE"/>
                </a:solidFill>
                <a:latin typeface="Consolas"/>
                <a:cs typeface="Consolas"/>
              </a:rPr>
              <a:t>  speech_home/.picoclaw/workspace/AGENT.md</a:t>
            </a:r>
          </a:p>
        </p:txBody>
      </p:sp>
      <p:sp>
        <p:nvSpPr>
          <p:cNvPr id="5058" name="Box 5058"/>
          <p:cNvSpPr/>
          <p:nvPr/>
        </p:nvSpPr>
        <p:spPr>
          <a:xfrm>
            <a:off x="6355080" y="4187952"/>
            <a:ext cx="4617720" cy="1051560"/>
          </a:xfrm>
          <a:prstGeom prst="roundRect">
            <a:avLst/>
          </a:prstGeom>
          <a:solidFill>
            <a:srgbClr val="050A16"/>
          </a:solidFill>
          <a:ln w="12700">
            <a:solidFill>
              <a:srgbClr val="FB923C"/>
            </a:solidFill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5059" name="Text 5059"/>
          <p:cNvSpPr txBox="1"/>
          <p:nvPr/>
        </p:nvSpPr>
        <p:spPr>
          <a:xfrm>
            <a:off x="6556248" y="4389120"/>
            <a:ext cx="4215384" cy="6492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180" dirty="0">
                <a:solidFill>
                  <a:srgbClr val="CFFAFE"/>
                </a:solidFill>
                <a:latin typeface="Consolas"/>
                <a:cs typeface="Consolas"/>
              </a:rPr>
              <a:t>"david": {</a:t>
            </a:r>
          </a:p>
          <a:p>
            <a:pPr algn="l"/>
            <a:r>
              <a:rPr lang="en-US" sz="1180" dirty="0">
                <a:solidFill>
                  <a:srgbClr val="CFFAFE"/>
                </a:solidFill>
                <a:latin typeface="Consolas"/>
                <a:cs typeface="Consolas"/>
              </a:rPr>
              <a:t>  "mode": "picoclaw",</a:t>
            </a:r>
          </a:p>
          <a:p>
            <a:pPr algn="l"/>
            <a:r>
              <a:rPr lang="en-US" sz="1180" dirty="0">
                <a:solidFill>
                  <a:srgbClr val="CFFAFE"/>
                </a:solidFill>
                <a:latin typeface="Consolas"/>
                <a:cs typeface="Consolas"/>
              </a:rPr>
              <a:t>  "home": PICOCLAW_BASE / "story_home"</a:t>
            </a:r>
          </a:p>
          <a:p>
            <a:pPr algn="l"/>
            <a:r>
              <a:rPr lang="en-US" sz="1180" dirty="0">
                <a:solidFill>
                  <a:srgbClr val="CFFAFE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5060" name="Text 5060"/>
          <p:cNvSpPr txBox="1"/>
          <p:nvPr/>
        </p:nvSpPr>
        <p:spPr>
          <a:xfrm>
            <a:off x="914400" y="5989320"/>
            <a:ext cx="996696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US" sz="1600" dirty="0">
                <a:solidFill>
                  <a:srgbClr val="F8FAFC"/>
                </a:solidFill>
                <a:latin typeface="Aptos"/>
                <a:cs typeface="Aptos"/>
              </a:rPr>
              <a:t>select David -&gt; OpenAI transcription -&gt; PicoClaw story_home -&gt; OpenAI TTS -&gt; speaker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